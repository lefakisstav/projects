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68" r:id="rId3"/>
    <p:sldId id="269" r:id="rId4"/>
    <p:sldId id="263" r:id="rId5"/>
    <p:sldId id="266" r:id="rId6"/>
    <p:sldId id="265" r:id="rId7"/>
    <p:sldId id="271" r:id="rId8"/>
    <p:sldId id="267" r:id="rId9"/>
    <p:sldId id="272" r:id="rId10"/>
    <p:sldId id="277" r:id="rId11"/>
    <p:sldId id="276" r:id="rId12"/>
    <p:sldId id="275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E8392-6452-4873-AD2E-0D5E3C8309A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E760E-9471-4163-91C3-5D1DD757F2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62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E760E-9471-4163-91C3-5D1DD757F2A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74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63FE-00AC-F846-8B2B-68A231E0E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BAE87-5319-1AE6-07F3-78086E722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2C91-9BA1-842E-2B19-D877C98B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1ED3-C8FB-C76F-19C2-5C1CD886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1633D-48AF-F7FC-FE70-3A5B9161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08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73B-D204-B21F-203E-A0DBFE04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5BA0-A8FD-BC7F-68BA-81974B794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F9911-485E-74A1-BA1A-21852884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83D32-A62E-A095-18ED-572877C4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BE66-7613-6910-FF6B-211A803A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79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CDBE-83D1-189B-EF38-821972FF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051B9-E432-A24D-22A6-075C5B78B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456E7-6776-A2DB-C6B4-9B146526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062C-6490-3A1C-832C-E529296B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6AB9E-8866-2C9D-C6BA-0FDEDB59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94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0759-E4E4-8F9D-0562-DB1E9595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647E-0967-4099-D7B2-6A9B341A2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D6FA7-1382-542F-00D5-337572D47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FDD06-EEED-B282-6A00-220F7782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F514C-13C3-F5CE-E03F-C9AEC156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80A2B-4EE4-E47E-952B-2A9E9887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23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BA64-B026-0DBE-B16F-E0DF8E8D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C98DF-33C8-58CF-9F8E-8796F6184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4F882-DB55-5127-44FA-5C20575F9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00A75-1163-492E-1510-E726A9AA2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0D732-1061-50A5-B7BF-CC187F2D2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0F1B4-67AE-F8EC-FA52-C8F699AC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BA24B-58FB-6716-B022-C25A62AF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5EF89-D02C-5EDB-BC4A-36D99E95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22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1B99-685C-90F5-CAB7-43D1972B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7C0BE-E1EF-DB93-E68A-4EC3B78A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9B9BA-B25D-CBE7-C83E-5DB796C2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BD54-C82B-6ED3-CBF1-A6EEB49C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10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5F2A7-8AD3-4756-1841-42FBE3F2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6B2E3-8F71-8A47-F1B7-F8D4D10D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AAFB3-882A-E0D5-4ABC-39628C1B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45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9220D-66F9-39DE-6EC3-F49D32F6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A36A-B093-CCC0-A9F8-D2A3285A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FAD5F-12DD-88C3-93CD-CAC0095D0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6E65-DBD3-F78A-5E18-12CEE096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6CEA3-6AC1-D3B3-2CF5-4E6E81FD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9BEBE-1BA5-382A-0994-40C06565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65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96A9-4A1D-2983-7DDE-763AE5F6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5DD03-4F69-2609-DC47-DA16ED947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07C09-A788-9DDD-C2AF-384959952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A8108-905C-613C-E1A1-6430CFB2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5D0DC-276F-DBAB-3605-F2FC0389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207EB-FA21-3C86-53D2-AD4A1BF2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52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C979-0D1C-B8B5-8BFE-B125B74D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0E44D-3A2D-CE74-F7BC-0EB9F6CA3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281EB-4F36-7E83-5E93-990A7CF8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8195-431C-2A33-CF9A-A9BD15DE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A406-7067-804D-C61D-9E0150C3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58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A9674-F391-7354-E620-47453EB4D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CA53A-55A3-BFD5-3908-636909E21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954E8-469B-CAB9-E4D6-C42A8DA5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20E79-EE5E-AC56-58A1-57703E01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F34C-4F74-21D2-EF97-243A0D28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92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BD432-F630-7727-97CA-E92054D7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5C9BE-8726-EB22-999E-8DDA78928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A123-A9DA-7C63-03A9-901CA40E1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6688C-B4E3-4820-B884-47F09E0859D9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DCB8-8B89-0D4A-45A3-9D8310A28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B652E-58C9-9307-D533-D0D90B310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3A15-7866-4A36-A165-C470CB04B0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07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84C5A-FAC9-5226-A65B-4D77866E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1" name="Rectangle 17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D773D-2DD9-C4A8-016C-96B6996B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58" y="867629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Profile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Aalysis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857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47468-8EC5-4E74-6683-D32DE040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FB4B6356-981D-E045-63E4-7FD9DE95F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8AC87B6-B26E-DEC5-4E40-34DA8467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83AA6EF-2B69-5487-7EFA-43629CD96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64E7423-3CE8-2B64-4B6B-4C4ED4864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A98230A-6585-3AF4-BC63-0D951920A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C279F-BD7D-1334-98F0-F8136871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About the data set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55A30-E566-7FE3-18E2-F224781156C2}"/>
              </a:ext>
            </a:extLst>
          </p:cNvPr>
          <p:cNvSpPr txBox="1"/>
          <p:nvPr/>
        </p:nvSpPr>
        <p:spPr>
          <a:xfrm>
            <a:off x="419819" y="2222609"/>
            <a:ext cx="103401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Was based on </a:t>
            </a:r>
            <a:r>
              <a:rPr lang="en-GB" sz="2400" b="1" dirty="0"/>
              <a:t>2014-2017</a:t>
            </a:r>
            <a:r>
              <a:rPr lang="en-GB" sz="2400" dirty="0"/>
              <a:t> consumption data from utilities companies training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Tracks real </a:t>
            </a:r>
            <a:r>
              <a:rPr lang="en-GB" sz="2400" b="1" dirty="0"/>
              <a:t>energy utilities application</a:t>
            </a:r>
            <a:r>
              <a:rPr lang="en-GB" sz="2400" dirty="0"/>
              <a:t>, usage, and online/mobile applications data from cities that have been renamed to futuristic Hellenic cities, while the user data have been altered and anonymized.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9371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8CEFC-2463-66BB-052C-E1F8C85D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E3A30AFC-1D92-D5D6-1A9D-411B0803A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321BDD2-0DB6-D106-2B5A-490AB12A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7DDEECC-546E-320F-EF7A-DCE8460D6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B1EDD83-1419-7184-0853-7A2E667B0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D53F0E8-36E9-2AAC-FE51-9E40783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BACC1-6C50-189E-93AB-38A09001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Customer Profile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C5F95F-49CC-4579-ACB4-8C5FE398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22" y="1928621"/>
            <a:ext cx="5131088" cy="248857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8946F-4070-8C1F-875F-560B691DD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235" y="1928621"/>
            <a:ext cx="5131087" cy="24885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51A0E3-9CF2-E8E1-AB88-578FA2DA86B6}"/>
              </a:ext>
            </a:extLst>
          </p:cNvPr>
          <p:cNvSpPr txBox="1"/>
          <p:nvPr/>
        </p:nvSpPr>
        <p:spPr>
          <a:xfrm>
            <a:off x="504924" y="463573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b="1" dirty="0"/>
              <a:t>Median customer tenure is just 1.4 years</a:t>
            </a:r>
            <a:r>
              <a:rPr lang="en-GB" dirty="0"/>
              <a:t> — a relatively young customer base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b="1" dirty="0"/>
              <a:t>2016 was a breakout growth year</a:t>
            </a:r>
            <a:r>
              <a:rPr lang="en-GB" dirty="0"/>
              <a:t>, adding more than 1,000 new customers 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Growth has since </a:t>
            </a:r>
            <a:r>
              <a:rPr lang="en-GB" b="1" dirty="0"/>
              <a:t>stalled sharply (only 16 new customers in 2017)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258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39EBB-E27F-2059-D664-B89474CD5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5" name="Rectangle 16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81E8C36-156D-D561-C4A0-06DCA3FD3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Customer Profile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77C96-CEEA-651E-8AD6-5D28B1A9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77" y="1841091"/>
            <a:ext cx="5131088" cy="31812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DA2F97-BA3B-7DA0-05A6-1695F1965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694" y="1656766"/>
            <a:ext cx="5131087" cy="36302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BE08DE-AEAB-65DA-2345-2B7FEE344FF6}"/>
              </a:ext>
            </a:extLst>
          </p:cNvPr>
          <p:cNvSpPr txBox="1"/>
          <p:nvPr/>
        </p:nvSpPr>
        <p:spPr>
          <a:xfrm>
            <a:off x="711382" y="5287009"/>
            <a:ext cx="52657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Core customer base is prime working-age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Married customers represent the largest customer segment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The customer base is well-educated, with 60% holding a Bachelor's degree or higher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A9E9F-4561-C5F3-7ED1-923D57D02FB0}"/>
              </a:ext>
            </a:extLst>
          </p:cNvPr>
          <p:cNvSpPr txBox="1"/>
          <p:nvPr/>
        </p:nvSpPr>
        <p:spPr>
          <a:xfrm>
            <a:off x="6287460" y="528700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Larger homes consume more, as expected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Majority of customers cluster in homes under 200 m² with consumption under 50 units/day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A handful of outliers (500+ m²) - potential targets for efficiency programs</a:t>
            </a:r>
          </a:p>
        </p:txBody>
      </p:sp>
    </p:spTree>
    <p:extLst>
      <p:ext uri="{BB962C8B-B14F-4D97-AF65-F5344CB8AC3E}">
        <p14:creationId xmlns:p14="http://schemas.microsoft.com/office/powerpoint/2010/main" val="411595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339AD-9BD9-61B2-FEA3-664438BD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8" name="Rectangle 19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C42FEF-8F01-4C68-1D53-E6A6AF01222F}"/>
              </a:ext>
            </a:extLst>
          </p:cNvPr>
          <p:cNvSpPr txBox="1">
            <a:spLocks/>
          </p:cNvSpPr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>
                <a:solidFill>
                  <a:srgbClr val="FFFFFF"/>
                </a:solidFill>
              </a:rPr>
              <a:t>Customer Behavior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B9C510-729E-3A9B-9B6D-1BD7853F3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96" y="1985882"/>
            <a:ext cx="5131088" cy="2886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15E24C-7C7E-CAF3-7F33-0BFCCD8F1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480" y="1899190"/>
            <a:ext cx="5131087" cy="32422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585593-ECC1-B441-D687-9C9FE0AF2C2A}"/>
              </a:ext>
            </a:extLst>
          </p:cNvPr>
          <p:cNvSpPr txBox="1"/>
          <p:nvPr/>
        </p:nvSpPr>
        <p:spPr>
          <a:xfrm>
            <a:off x="777434" y="52907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b="1" dirty="0"/>
              <a:t>73% of customers pay late</a:t>
            </a:r>
            <a:r>
              <a:rPr lang="en-GB" dirty="0"/>
              <a:t>—cash-flow risk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Only </a:t>
            </a:r>
            <a:r>
              <a:rPr lang="en-GB" b="1" dirty="0"/>
              <a:t>6% pay on time</a:t>
            </a:r>
            <a:r>
              <a:rPr lang="en-GB" dirty="0"/>
              <a:t>; the rest pay early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dirty="0"/>
              <a:t>Among late payers, </a:t>
            </a:r>
            <a:r>
              <a:rPr lang="en-GB" b="1" dirty="0"/>
              <a:t>most are only slightly late</a:t>
            </a:r>
            <a:r>
              <a:rPr lang="en-GB" dirty="0"/>
              <a:t> (1–5 days),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A1C2F0-61F4-4B6A-0EF6-2BA3A23CF7B4}"/>
              </a:ext>
            </a:extLst>
          </p:cNvPr>
          <p:cNvSpPr/>
          <p:nvPr/>
        </p:nvSpPr>
        <p:spPr>
          <a:xfrm>
            <a:off x="9560167" y="2183417"/>
            <a:ext cx="1800046" cy="28755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501E26-3AC9-2549-A4F1-3A518D29E91B}"/>
              </a:ext>
            </a:extLst>
          </p:cNvPr>
          <p:cNvCxnSpPr>
            <a:cxnSpLocks/>
          </p:cNvCxnSpPr>
          <p:nvPr/>
        </p:nvCxnSpPr>
        <p:spPr>
          <a:xfrm flipH="1">
            <a:off x="5888966" y="3721953"/>
            <a:ext cx="3738113" cy="1702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9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9327F-1138-9F8D-FAF3-083472EB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D1BEF247-C420-7F8D-3969-EF5F1372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F02928A-46DB-455E-98F0-11C5F5ED0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FAAEF46-B692-08B1-EBB2-7B795042A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1019A59-3D82-DF7A-B878-7010DD5DC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68EBB9C-4158-E365-21B3-A5FA2E09E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484B7-2141-08D8-C5A4-C3A0CE11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79" y="172528"/>
            <a:ext cx="7091300" cy="14039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Key Correlations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4579F73B-1759-1C95-3EBC-0B6D1DE07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91" r="186"/>
          <a:stretch>
            <a:fillRect/>
          </a:stretch>
        </p:blipFill>
        <p:spPr>
          <a:xfrm>
            <a:off x="280286" y="1686396"/>
            <a:ext cx="5696857" cy="51716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899F1D-304C-D7BC-F59B-33ED1AF5FF21}"/>
              </a:ext>
            </a:extLst>
          </p:cNvPr>
          <p:cNvSpPr/>
          <p:nvPr/>
        </p:nvSpPr>
        <p:spPr>
          <a:xfrm>
            <a:off x="3039125" y="3950145"/>
            <a:ext cx="736120" cy="64410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4A428B-CCA0-E886-3BA6-7CB4196C87BF}"/>
              </a:ext>
            </a:extLst>
          </p:cNvPr>
          <p:cNvSpPr/>
          <p:nvPr/>
        </p:nvSpPr>
        <p:spPr>
          <a:xfrm>
            <a:off x="1515374" y="2947359"/>
            <a:ext cx="736120" cy="644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DE1DF-8D2E-0D85-7E4C-821363E68FC9}"/>
              </a:ext>
            </a:extLst>
          </p:cNvPr>
          <p:cNvSpPr txBox="1"/>
          <p:nvPr/>
        </p:nvSpPr>
        <p:spPr>
          <a:xfrm>
            <a:off x="6511847" y="1944860"/>
            <a:ext cx="50286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endParaRPr lang="en-GB" sz="1600" b="1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Area ↔ Consumption (0.51):</a:t>
            </a:r>
            <a:r>
              <a:rPr lang="en-GB" sz="1600" dirty="0"/>
              <a:t> the only strong "real" driver relationship — larger homes use more energy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Monthly Visits = Web + Mobile Visits</a:t>
            </a:r>
            <a:r>
              <a:rPr lang="en-GB" sz="1600" dirty="0"/>
              <a:t> (0.96 mobile, 0.41 web) — visits are dominated by </a:t>
            </a:r>
            <a:r>
              <a:rPr lang="en-GB" sz="1600" b="1" dirty="0"/>
              <a:t>mobile channel</a:t>
            </a:r>
            <a:r>
              <a:rPr lang="en-GB" sz="1600" dirty="0"/>
              <a:t>, confirming mobile as the primary engagement touchpoint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Web vs. Mobile usage are largely independent (0.15)</a:t>
            </a:r>
            <a:r>
              <a:rPr lang="en-GB" sz="1600" dirty="0"/>
              <a:t> 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Longer-tenured customers visit less</a:t>
            </a:r>
            <a:r>
              <a:rPr lang="en-GB" sz="1600" dirty="0"/>
              <a:t> 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GB" sz="1600" b="1" dirty="0"/>
              <a:t>Bill payment timing shows no meaningful correlation</a:t>
            </a:r>
            <a:r>
              <a:rPr lang="en-GB" sz="1600" dirty="0"/>
              <a:t> with consumption, area, or engagement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B9D531-7556-460C-C360-4E0F360F15F9}"/>
              </a:ext>
            </a:extLst>
          </p:cNvPr>
          <p:cNvCxnSpPr>
            <a:stCxn id="10" idx="3"/>
          </p:cNvCxnSpPr>
          <p:nvPr/>
        </p:nvCxnSpPr>
        <p:spPr>
          <a:xfrm flipV="1">
            <a:off x="2251494" y="2450592"/>
            <a:ext cx="4368762" cy="818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52C6C7-537D-585F-3DBD-3C82B0D0413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775245" y="2947359"/>
            <a:ext cx="2845011" cy="1324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954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53879-F8B6-F120-7318-207D083C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151">
            <a:extLst>
              <a:ext uri="{FF2B5EF4-FFF2-40B4-BE49-F238E27FC236}">
                <a16:creationId xmlns:a16="http://schemas.microsoft.com/office/drawing/2014/main" id="{37DDE390-22A8-B8A7-AD94-F25980D9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508D25F-3751-DB81-5C87-D3A98E915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0B992E4-1649-F873-A6EA-52927961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EB4FA3B-CAB0-3081-4455-3C413B76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3D285-5BBA-AD7A-E08D-D920DF40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12" y="166777"/>
            <a:ext cx="11064814" cy="10990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What is the relationship between mobile/web engagement and customers’ payment turnaround time?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C560C-8DBE-D512-32D1-EB8E89ACD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27" y="2847345"/>
            <a:ext cx="3554532" cy="2514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AD9EB2-51C1-1DD7-6635-CDE471503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46" y="2903220"/>
            <a:ext cx="3549220" cy="2313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785843-FAF4-5692-C870-104559B20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90" y="3029946"/>
            <a:ext cx="3652310" cy="2173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74E9FC-5225-6643-6C0B-593C01E3CA39}"/>
              </a:ext>
            </a:extLst>
          </p:cNvPr>
          <p:cNvSpPr txBox="1"/>
          <p:nvPr/>
        </p:nvSpPr>
        <p:spPr>
          <a:xfrm>
            <a:off x="310512" y="17474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Mobile:</a:t>
            </a:r>
            <a:r>
              <a:rPr lang="en-GB" sz="1800" dirty="0"/>
              <a:t> Payment time decreases with higher visit frequency up to a moderate high level, but increases among the high frequency visitors.</a:t>
            </a:r>
          </a:p>
          <a:p>
            <a:pPr lvl="0"/>
            <a:endParaRPr lang="en-GB" sz="1800" dirty="0"/>
          </a:p>
          <a:p>
            <a:pPr lvl="0"/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2E013-9C25-6190-723E-0BA674F88204}"/>
              </a:ext>
            </a:extLst>
          </p:cNvPr>
          <p:cNvSpPr txBox="1"/>
          <p:nvPr/>
        </p:nvSpPr>
        <p:spPr>
          <a:xfrm>
            <a:off x="496496" y="559466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Key takeaway:</a:t>
            </a:r>
            <a:r>
              <a:rPr lang="en-GB" sz="1800" dirty="0"/>
              <a:t> High visit frequency does not necessarily indicate faster payment and may signal customers who require more interaction before completing payment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DC6F9-8DC8-779C-1D36-8611FB8862D6}"/>
              </a:ext>
            </a:extLst>
          </p:cNvPr>
          <p:cNvSpPr txBox="1"/>
          <p:nvPr/>
        </p:nvSpPr>
        <p:spPr>
          <a:xfrm>
            <a:off x="6251256" y="17474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1800" b="1" dirty="0"/>
              <a:t>Web:</a:t>
            </a:r>
            <a:r>
              <a:rPr lang="en-GB" sz="1800" dirty="0"/>
              <a:t> Higher monthly visit frequency is generally associated with </a:t>
            </a:r>
            <a:r>
              <a:rPr lang="en-GB" sz="1800" b="1" dirty="0"/>
              <a:t>longer payment times</a:t>
            </a:r>
            <a:r>
              <a:rPr lang="en-GB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172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FE843-45A9-CFF5-BC0A-CB09BA54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3DEF1-0903-71F3-94D4-DBC62200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89" y="653384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Choosing the Right Model: DBSCAN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0283C1-F6FE-EE15-3E11-BB094CA04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70" y="466993"/>
            <a:ext cx="5461522" cy="5923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FE9476-6293-E5CD-7CA6-4F1F4A641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71" y="3074573"/>
            <a:ext cx="3722061" cy="31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4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3D82D-290F-73C0-A702-2BAF0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97434-6F7D-E21F-353F-5C16DCBF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708269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Choosing the Right Model: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K-Means</a:t>
            </a:r>
            <a:b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72970A-9A4E-9777-ADAB-D9CA3E1BE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287" y="116537"/>
            <a:ext cx="7304245" cy="40512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823E9-A8E0-7892-60E9-4E182F223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122" y="4355937"/>
            <a:ext cx="7314358" cy="238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4696C-1F42-75DB-D44F-A1094114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151">
            <a:extLst>
              <a:ext uri="{FF2B5EF4-FFF2-40B4-BE49-F238E27FC236}">
                <a16:creationId xmlns:a16="http://schemas.microsoft.com/office/drawing/2014/main" id="{E01A8CF6-6430-3846-88F3-1299BD9A7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629A384-C3AD-931C-938C-B49CDF62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51C139C-28EC-2F27-019C-615708C1C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2A0C8AE-794D-9FF3-DED3-AF1B91613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3F529-EFAB-4C9B-6597-95954E57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12" y="166777"/>
            <a:ext cx="11064814" cy="10990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Results: Profile Clustering</a:t>
            </a:r>
            <a:br>
              <a:rPr lang="en-US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8CC1C-9955-90F3-A4F6-64D2472C6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47"/>
          <a:stretch>
            <a:fillRect/>
          </a:stretch>
        </p:blipFill>
        <p:spPr>
          <a:xfrm>
            <a:off x="5467756" y="1706192"/>
            <a:ext cx="6426585" cy="4687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2549C-1E77-4E1A-BBF9-B4BA8AE1B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0"/>
          <a:stretch>
            <a:fillRect/>
          </a:stretch>
        </p:blipFill>
        <p:spPr>
          <a:xfrm>
            <a:off x="239154" y="1706192"/>
            <a:ext cx="4930944" cy="4985031"/>
          </a:xfrm>
          <a:prstGeom prst="rect">
            <a:avLst/>
          </a:prstGeom>
        </p:spPr>
      </p:pic>
      <p:pic>
        <p:nvPicPr>
          <p:cNvPr id="3" name="Picture 2" descr="Customer segments identified from the model">
            <a:extLst>
              <a:ext uri="{FF2B5EF4-FFF2-40B4-BE49-F238E27FC236}">
                <a16:creationId xmlns:a16="http://schemas.microsoft.com/office/drawing/2014/main" id="{382E188A-C4D1-8439-4054-B739A662F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" y="3114675"/>
            <a:ext cx="1109662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69F52-F2AA-1FC1-1AFB-C1665E1E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151">
            <a:extLst>
              <a:ext uri="{FF2B5EF4-FFF2-40B4-BE49-F238E27FC236}">
                <a16:creationId xmlns:a16="http://schemas.microsoft.com/office/drawing/2014/main" id="{6CB4070F-6CD3-FDD6-A946-18476433B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DDD3F42-D60A-2006-DB26-72DACFE13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DCEB3A4-CFFD-3D45-1ACD-8816B62E5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DC1C3AB-A07B-5DAA-1663-3FD657526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96A52-8189-A43F-202F-0DC393C0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12" y="166777"/>
            <a:ext cx="11064814" cy="10990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Results: Profile Clustering</a:t>
            </a:r>
            <a:br>
              <a:rPr lang="en-US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631C0-F120-3220-401F-A47176CA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86" y="2005893"/>
            <a:ext cx="11682791" cy="40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25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7315D-62FD-8B7F-C04A-E78AF892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01C90-ECEE-3281-367E-39EFF257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Q&amp;A</a:t>
            </a:r>
            <a:b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2" name="Graphic 161" descr="Question mark">
            <a:extLst>
              <a:ext uri="{FF2B5EF4-FFF2-40B4-BE49-F238E27FC236}">
                <a16:creationId xmlns:a16="http://schemas.microsoft.com/office/drawing/2014/main" id="{7E15CE87-2F4C-8E66-DF2B-0A41A907D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2017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783F7-0038-8912-AE29-15BED93C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37A6E-A5B3-2C45-60BE-FCD5E87B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your </a:t>
            </a:r>
            <a:r>
              <a:rPr lang="en-US" sz="4800" dirty="0">
                <a:solidFill>
                  <a:srgbClr val="FFFFFF"/>
                </a:solidFill>
              </a:rPr>
              <a:t>a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ttention!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127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acca971-55ee-4f70-82de-1dfbfc227017}" enabled="1" method="Standard" siteId="{ce73e05e-1b4e-4df3-b69c-705b18aaeef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391</Words>
  <Application>Microsoft Office PowerPoint</Application>
  <PresentationFormat>Widescreen</PresentationFormat>
  <Paragraphs>39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Customer Profile Aalysis</vt:lpstr>
      <vt:lpstr>About the data set</vt:lpstr>
      <vt:lpstr>Customer Profile</vt:lpstr>
      <vt:lpstr>Customer Profile</vt:lpstr>
      <vt:lpstr>PowerPoint Presentation</vt:lpstr>
      <vt:lpstr>Key Correlations </vt:lpstr>
      <vt:lpstr>What is the relationship between mobile/web engagement and customers’ payment turnaround time?</vt:lpstr>
      <vt:lpstr>Choosing the Right Model: DBSCAN</vt:lpstr>
      <vt:lpstr>Choosing the Right Model: K-Means </vt:lpstr>
      <vt:lpstr>Results: Profile Clustering </vt:lpstr>
      <vt:lpstr>Results: Profile Clustering </vt:lpstr>
      <vt:lpstr>Q&amp;A </vt:lpstr>
      <vt:lpstr>Thanks for your attention! </vt:lpstr>
    </vt:vector>
  </TitlesOfParts>
  <Company>Public Power Corporation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Lefakis Stavros</dc:creator>
  <cp:lastModifiedBy>Lefakis Stavros</cp:lastModifiedBy>
  <cp:revision>7</cp:revision>
  <dcterms:created xsi:type="dcterms:W3CDTF">2026-09-26T10:49:49Z</dcterms:created>
  <dcterms:modified xsi:type="dcterms:W3CDTF">2026-09-27T07:33:14Z</dcterms:modified>
</cp:coreProperties>
</file>